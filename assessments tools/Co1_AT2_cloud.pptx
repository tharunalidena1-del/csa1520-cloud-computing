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96" r:id="rId1"/>
  </p:sldMasterIdLst>
  <p:notesMasterIdLst>
    <p:notesMasterId r:id="rId13"/>
  </p:notesMasterIdLst>
  <p:sldIdLst>
    <p:sldId id="319" r:id="rId2"/>
    <p:sldId id="444" r:id="rId3"/>
    <p:sldId id="443" r:id="rId4"/>
    <p:sldId id="316" r:id="rId5"/>
    <p:sldId id="420" r:id="rId6"/>
    <p:sldId id="422" r:id="rId7"/>
    <p:sldId id="445" r:id="rId8"/>
    <p:sldId id="421" r:id="rId9"/>
    <p:sldId id="423" r:id="rId10"/>
    <p:sldId id="427" r:id="rId11"/>
    <p:sldId id="428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FF99"/>
    <a:srgbClr val="FFE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55" autoAdjust="0"/>
    <p:restoredTop sz="94291" autoAdjust="0"/>
  </p:normalViewPr>
  <p:slideViewPr>
    <p:cSldViewPr>
      <p:cViewPr>
        <p:scale>
          <a:sx n="52" d="100"/>
          <a:sy n="52" d="100"/>
        </p:scale>
        <p:origin x="1660" y="2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mtClean="0"/>
            </a:lvl1pPr>
          </a:lstStyle>
          <a:p>
            <a:pPr>
              <a:defRPr/>
            </a:pPr>
            <a:fld id="{8B2BDBFC-A737-4674-95A6-BD8FC3BBB88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57087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3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/>
            <a:fld id="{D9FA2010-55FA-4547-918F-B81D2B6C3183}" type="slidenum">
              <a:rPr lang="en-US" smtClean="0">
                <a:solidFill>
                  <a:srgbClr val="000000"/>
                </a:solidFill>
                <a:latin typeface="Calibri" pitchFamily="34" charset="0"/>
              </a:rPr>
              <a:pPr eaLnBrk="1" hangingPunct="1"/>
              <a:t>1</a:t>
            </a:fld>
            <a:endParaRPr lang="en-US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2771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62275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6D1301E2-06EF-4199-A0C2-61C79D07C605}" type="slidenum">
              <a:rPr lang="en-US" sz="1200">
                <a:solidFill>
                  <a:srgbClr val="000000"/>
                </a:solidFill>
                <a:latin typeface="Calibri" pitchFamily="34" charset="0"/>
              </a:rPr>
              <a:pPr algn="r" eaLnBrk="1" hangingPunct="1">
                <a:buClrTx/>
                <a:buFontTx/>
                <a:buNone/>
              </a:pPr>
              <a:t>1</a:t>
            </a:fld>
            <a:endParaRPr lang="en-US" sz="120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2772" name="Text Box 2"/>
          <p:cNvSpPr txBox="1">
            <a:spLocks noChangeArrowheads="1"/>
          </p:cNvSpPr>
          <p:nvPr/>
        </p:nvSpPr>
        <p:spPr bwMode="auto">
          <a:xfrm>
            <a:off x="3884613" y="8685213"/>
            <a:ext cx="2963862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445B1B0D-FD3A-430C-B5E7-9A25F0634E5E}" type="slidenum">
              <a:rPr lang="en-US" sz="1200">
                <a:solidFill>
                  <a:srgbClr val="000000"/>
                </a:solidFill>
                <a:latin typeface="Calibri" pitchFamily="34" charset="0"/>
              </a:rPr>
              <a:pPr algn="r" eaLnBrk="1" hangingPunct="1">
                <a:buClrTx/>
                <a:buFontTx/>
                <a:buNone/>
              </a:pPr>
              <a:t>1</a:t>
            </a:fld>
            <a:endParaRPr lang="en-US" sz="120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277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2475" cy="34226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2774" name="Text Box 4"/>
          <p:cNvSpPr txBox="1">
            <a:spLocks noChangeArrowheads="1"/>
          </p:cNvSpPr>
          <p:nvPr/>
        </p:nvSpPr>
        <p:spPr bwMode="auto">
          <a:xfrm>
            <a:off x="685800" y="4343400"/>
            <a:ext cx="5480050" cy="410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73DF8-1B35-D161-829D-B5D6DE552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E5931D-96D5-335B-96A2-203B20075D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3FC5A7-2036-1B4A-4066-BFF3A33E7F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66599-84A2-F3DC-E232-5695562F08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2313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FDD00-DCAF-AA87-9B69-BBF63B40D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47D253-FE6B-DC68-5CE4-C66BF82C12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28D06-E3A1-45F5-A0E4-513B2D9AEC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1EC372-FF39-0107-4314-C7A156D45D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8455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86654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45511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BB88F-1362-B8F2-98B4-49057AA30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28A9F4-9915-1BF3-C5F1-B701BB7794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75F178-1B36-B6DB-C78F-5D1F62435E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9927A3-CEC5-5D25-D42F-BCF10042D2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05667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67395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83813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4327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271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384E2-29B2-473B-9B15-FB4162EA38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1D68E3-377A-4EAB-A8AF-AC22ADEAD1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22E3E1-B583-4E22-BE6E-DB39F8DC1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7F78D47-8FFD-4512-8D28-D7D30AA2420B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A822F-80C2-4CE2-8FD6-7812B2458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2E405-DC72-42EB-9829-2FE185B4D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4C9596-1561-4F47-B169-6589373C9CB0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Text Box 21">
            <a:extLst>
              <a:ext uri="{FF2B5EF4-FFF2-40B4-BE49-F238E27FC236}">
                <a16:creationId xmlns:a16="http://schemas.microsoft.com/office/drawing/2014/main" id="{E181AF60-5A91-4EB3-9801-1AB645A82A0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162800" y="152400"/>
            <a:ext cx="1981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2000" u="sng">
                <a:latin typeface="AvantGarde" pitchFamily="34" charset="0"/>
                <a:ea typeface="宋体" pitchFamily="2" charset="-122"/>
              </a:rPr>
              <a:t>Outline</a:t>
            </a:r>
          </a:p>
        </p:txBody>
      </p:sp>
      <p:sp>
        <p:nvSpPr>
          <p:cNvPr id="8" name="AutoShape 2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E8136274-00DC-4015-BD06-CB923B2CB4A5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7086600" y="76200"/>
            <a:ext cx="304800" cy="304800"/>
          </a:xfrm>
          <a:prstGeom prst="actionButtonBackPrevious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9" name="AutoShape 2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276CE5E1-8B14-4CB7-BB74-EE3BFC3E9341}"/>
              </a:ext>
            </a:extLst>
          </p:cNvPr>
          <p:cNvSpPr>
            <a:spLocks noChangeArrowheads="1"/>
          </p:cNvSpPr>
          <p:nvPr userDrawn="1"/>
        </p:nvSpPr>
        <p:spPr bwMode="auto">
          <a:xfrm rot="16200000">
            <a:off x="7086600" y="457200"/>
            <a:ext cx="304800" cy="304800"/>
          </a:xfrm>
          <a:prstGeom prst="actionButtonBackPrevious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0" name="Rectangle 25">
            <a:extLst>
              <a:ext uri="{FF2B5EF4-FFF2-40B4-BE49-F238E27FC236}">
                <a16:creationId xmlns:a16="http://schemas.microsoft.com/office/drawing/2014/main" id="{5AFFD8CA-10EA-457A-8509-BF108EEBF4B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05600" y="838200"/>
            <a:ext cx="24384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spcBef>
                <a:spcPct val="0"/>
              </a:spcBef>
              <a:defRPr/>
            </a:pPr>
            <a:endParaRPr lang="zh-CN" altLang="en-US" sz="1400" b="1">
              <a:solidFill>
                <a:schemeClr val="tx1"/>
              </a:solidFill>
              <a:latin typeface="AvantGarde" pitchFamily="34" charset="0"/>
              <a:ea typeface="宋体" pitchFamily="2" charset="-122"/>
            </a:endParaRPr>
          </a:p>
        </p:txBody>
      </p:sp>
      <p:sp>
        <p:nvSpPr>
          <p:cNvPr id="11" name="Text Box 30">
            <a:extLst>
              <a:ext uri="{FF2B5EF4-FFF2-40B4-BE49-F238E27FC236}">
                <a16:creationId xmlns:a16="http://schemas.microsoft.com/office/drawing/2014/main" id="{AD926431-C4E0-4676-B855-D73EE2A09F8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6400800"/>
            <a:ext cx="66294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© Copyright 1992–2004 by Deitel &amp; Associates, Inc. and Pearson Education Inc. All Rights Reserved</a:t>
            </a:r>
            <a:r>
              <a:rPr lang="en-US" altLang="zh-CN">
                <a:solidFill>
                  <a:schemeClr val="tx1"/>
                </a:solidFill>
                <a:latin typeface="AvantGarde" pitchFamily="34" charset="0"/>
                <a:ea typeface="宋体" pitchFamily="2" charset="-122"/>
              </a:rPr>
              <a:t>.</a:t>
            </a:r>
            <a:endParaRPr lang="en-US" altLang="zh-CN">
              <a:solidFill>
                <a:schemeClr val="tx1"/>
              </a:solidFill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4316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8DAA1-91C1-4C5F-BDAF-DB5E286AF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B7DB8-FB8B-4B9E-8D4D-92B066231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A8477-CC20-4B19-8C40-5C3108AAF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A967B43-3C75-4C05-9F51-EAE257C2773C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B5869-6686-4410-86B5-DEDA700B1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7A075-549C-4AF2-A490-06220BB47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CDE8-2898-41C9-91F5-5C437B111C38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8538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F0302-840F-4D7C-A473-8F1FA231F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EAA85-2EB0-46D1-8E1D-33041FE1A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DA50A-DEF0-4838-965D-2E76434C5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C2CB087-0400-4922-9F91-7DC9C4839E49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481AD-E714-4546-B61C-28522DCEE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24374-8573-4A69-8B2D-46884D6B0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98A58D-B9CE-4CA6-847A-291E9451A798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1339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B73E2-6CF0-4817-A81C-455BCFE3B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C7447-B2F6-496B-9572-086101E6A9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AFD9FF-A74B-4C54-961B-A95AFEDA0C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0CA999-851E-45D0-B22E-65845B3C8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C68D67-6EB7-4DC7-9727-8391EC2B56EB}" type="datetime1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C63D65-6214-4D89-9B12-A1303BB86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46AFBC-A822-4087-96EA-8D612442F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37AD23-FB29-4133-9724-124394767C7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8369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74298-9AF2-422D-B1EE-A63202D1F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88915-ED0B-49F9-8A7E-97BC9A25C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0DCCA7-A896-4ECA-8801-07EC748A3A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6CA394-0114-4A88-8527-45CD39E85A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3D45D6-DF9F-411C-8263-95475B58DE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5DC717-99B0-42A5-9016-36F5FE846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F034FBC-27D4-4810-9F83-B836C1894235}" type="datetime1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83E3F6-1870-49CB-A56B-B66C9CC60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C8AFB7-E09C-42AD-ACDD-82742BE20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283AFB-95D9-4C50-9E69-CCF772E78D2F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5271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93A4D-7883-4BA4-A2EB-658270814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810DCD-0278-4783-9E0B-E62B90207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A852B12-B03F-401A-B09A-22FF8A471D26}" type="datetime1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BC42EA-D385-492C-BDEB-CE2972FEC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A570D7-30EE-450C-858E-17211BA92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07ACE5-6DCF-44B1-BCE5-AED4F1432B7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0673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E67E85-4812-46FA-B55A-8C0346CBD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DBACEB-86B6-4549-86D9-546E8B661F1D}" type="datetime1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8FB567-7683-4806-A86E-0F37B1E56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409E3-4A1F-4B6F-A6B3-369926225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EF6C63-F5E9-4477-9611-220F3BE2B4BF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5977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6DCF0-48BD-4DDA-B92F-E29D6B922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4CF3D-354D-4A6E-AF1B-E13A3F4A2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FBFFEF-0518-4957-93D5-89857DDCB0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7CA3D9-AA64-4F05-84FA-0B1ED13AD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243E961-2071-4164-A816-F9134ED2D6BA}" type="datetime1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CA81AD-DB12-49BE-A4B7-61A1EEFFF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FC6E26-110D-432F-9EA4-F7542D48C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0F9606-3640-4612-B129-D14368C53603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9643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72DCB-3EA8-4C02-A5BB-2D8C09FA8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6004F2-CF89-4A93-901F-8580E24167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2AF3AE-E0F2-4DBA-8DA2-1FFC94CDF0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3D77BD-42F8-4BBF-93D1-C1BD19FAE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20EB93D-55FD-41C9-8418-0659BC3F3680}" type="datetime1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D1D6FD-3EDE-4090-982B-7A76CCC53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639B87-141A-4F5C-AA21-79CB16928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C7D8D7-F45D-4981-8A87-AE77D5099B43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2346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7C0F5-CC60-4A58-B110-71E849CD3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67BBE7-791B-47E0-8342-5D74B6392B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19286-9FBD-4324-B4CF-37E961729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339E02-518C-45D4-AFEA-20FF5E86475A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4643B-B0CA-4F1F-B7DF-0676622B2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3A957-2CC5-4C83-BC04-44A9E0CA7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47999E-7031-42ED-94DE-C845CFFA06BB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7826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0B0C1B-8D93-465F-BCFF-41798B3852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9AA99D-FF1A-45BD-AAC1-C519206804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2DCF0-D048-4B37-9FD8-5FF8AE6C4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603D3B3-07F5-4EA3-B17D-BBF195AEF26D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2C259-4962-46D2-B0E4-9EA9A950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C994C-4A19-4C0F-9F87-C20387017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008B66-D13B-4331-A839-75D7D9B9D9CA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1268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C28140-F895-4F06-BF88-42CCEA259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67FC8D-C02F-4F4C-A012-39ECF41798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56592A-D9CF-46D3-92CD-2CD6BB05C3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EE1A3FC-59CE-474D-9569-50AD22CC8E28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76B21-0471-40FC-AD3A-A998605359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AE1B8B-8F02-4176-8EF5-DB3DCA2D70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B166E11-64E3-4F73-B04E-7F106BCFFF09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6767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AutoShape 3"/>
          <p:cNvSpPr>
            <a:spLocks noChangeArrowheads="1"/>
          </p:cNvSpPr>
          <p:nvPr/>
        </p:nvSpPr>
        <p:spPr bwMode="auto">
          <a:xfrm>
            <a:off x="2133600" y="2057400"/>
            <a:ext cx="5943600" cy="80327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8" name="Text Box 2"/>
          <p:cNvSpPr txBox="1">
            <a:spLocks noChangeArrowheads="1"/>
          </p:cNvSpPr>
          <p:nvPr/>
        </p:nvSpPr>
        <p:spPr bwMode="auto">
          <a:xfrm>
            <a:off x="228600" y="1007395"/>
            <a:ext cx="8686800" cy="1735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marL="365125"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4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TECHNICAL PRESENTATION</a:t>
            </a:r>
          </a:p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3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Microservices Architecture in Cloud Environments</a:t>
            </a:r>
          </a:p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3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 . Tharun Kumar reddy(192572068)</a:t>
            </a:r>
            <a:endParaRPr lang="en-US" sz="3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3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 . </a:t>
            </a:r>
            <a:r>
              <a:rPr lang="en-US" sz="30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lohith</a:t>
            </a:r>
            <a:r>
              <a:rPr lang="en-US" sz="3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30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kumar</a:t>
            </a:r>
            <a:r>
              <a:rPr lang="en-US" sz="3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(192511155) </a:t>
            </a:r>
          </a:p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3000" b="1" dirty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CSA1520 – Cloud Computing and Big Data Analytics </a:t>
            </a:r>
            <a:b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Guided By								Students Name</a:t>
            </a:r>
          </a:p>
          <a:p>
            <a:pPr lvl="1" indent="0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Dr.A.M.Arul Raj 						    A. Tharun  </a:t>
            </a:r>
            <a:r>
              <a:rPr lang="en-US" sz="20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kumar</a:t>
            </a: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reddy</a:t>
            </a:r>
          </a:p>
          <a:p>
            <a:pPr lvl="1" indent="0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Professor			                                            (192572068)</a:t>
            </a:r>
          </a:p>
          <a:p>
            <a:pPr lvl="1" indent="0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Institute   						                 </a:t>
            </a:r>
            <a:r>
              <a:rPr lang="en-US" sz="20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lohith</a:t>
            </a: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kumar</a:t>
            </a: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192511155)</a:t>
            </a:r>
          </a:p>
          <a:p>
            <a:pPr lvl="1" indent="0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SIMATS Engineering						SIMATS Engineering 											</a:t>
            </a:r>
          </a:p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                                   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endParaRPr lang="en-US" sz="36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endParaRPr lang="en-US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endParaRPr lang="en-US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EF6C63-F5E9-4477-9611-220F3BE2B4BF}" type="slidenum">
              <a:rPr lang="zh-CN" altLang="en-US" sz="1400" b="1" smtClean="0">
                <a:solidFill>
                  <a:schemeClr val="tx1"/>
                </a:solidFill>
              </a:rPr>
              <a:pPr>
                <a:defRPr/>
              </a:pPr>
              <a:t>1</a:t>
            </a:fld>
            <a:endParaRPr lang="en-US" altLang="zh-CN" sz="1400" b="1" dirty="0">
              <a:solidFill>
                <a:schemeClr val="tx1"/>
              </a:solidFill>
            </a:endParaRPr>
          </a:p>
        </p:txBody>
      </p:sp>
      <p:pic>
        <p:nvPicPr>
          <p:cNvPr id="2" name="Picture 2" descr="SSE-Computer Science and Engineering">
            <a:extLst>
              <a:ext uri="{FF2B5EF4-FFF2-40B4-BE49-F238E27FC236}">
                <a16:creationId xmlns:a16="http://schemas.microsoft.com/office/drawing/2014/main" id="{04655572-62AA-D50A-E101-7C3CEAC14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940262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par>
              <p:cTn id="2" fill="hold" nodeType="interactiveSeq">
                <p:stCondLst>
                  <p:cond delay="0"/>
                </p:stCondLst>
                <p:childTnLst>
                  <p:par>
                    <p:cTn id="3" fill="hold"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"/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BD647-A7AE-67FE-F5D8-F0B1D08B0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B76F1-5D41-6B25-DB36-386F2795B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325" y="1422242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Abstract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1266C-35D3-8D24-EBA3-91AD3C9F4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670" y="2362200"/>
            <a:ext cx="8202930" cy="3276600"/>
          </a:xfrm>
        </p:spPr>
        <p:txBody>
          <a:bodyPr>
            <a:noAutofit/>
          </a:bodyPr>
          <a:lstStyle/>
          <a:p>
            <a:pPr lvl="0"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Microservices is a modern software architecture. </a:t>
            </a:r>
          </a:p>
          <a:p>
            <a:pPr lvl="0"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divides a large application into small, independent services. </a:t>
            </a:r>
          </a:p>
          <a:p>
            <a:pPr lvl="0"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service performs a specific function. </a:t>
            </a:r>
          </a:p>
          <a:p>
            <a:pPr lvl="0"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Services communicate through APIs. </a:t>
            </a:r>
          </a:p>
          <a:p>
            <a:pPr lvl="0"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service can be developed and deployed separately.</a:t>
            </a:r>
          </a:p>
          <a:p>
            <a:pPr marL="82296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D64429-E5ED-D04D-455E-9CD16B2D3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2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7E6A4071-3DA5-B69A-C498-684731D73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1031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AA383-D455-43CB-3883-5C0CECB79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729AE-D481-B78B-BFFB-EB6158196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325" y="1422242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Aim and Objective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FDEF0-AD0C-9BFB-6E5D-7D68B25AA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396" y="2214404"/>
            <a:ext cx="8507729" cy="3805396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</a:p>
          <a:p>
            <a:pPr lvl="0" algn="just"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Microservices Architecture in Cloud Environments. </a:t>
            </a:r>
          </a:p>
          <a:p>
            <a:pPr lvl="0" algn="just"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learn how large applications are divided into small services.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lvl="0" algn="just"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basic concept of microservices. </a:t>
            </a:r>
          </a:p>
          <a:p>
            <a:pPr lvl="0" algn="just"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how microservices are designed and connected. </a:t>
            </a:r>
          </a:p>
          <a:p>
            <a:pPr lvl="0" algn="just"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microservices with monolithic architecture.</a:t>
            </a:r>
          </a:p>
          <a:p>
            <a:pPr marL="365760" indent="-283464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E49EC9-E9AC-78CE-9568-5B6F6F214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3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B6C61642-1D4B-1734-B97B-9D1655E2F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6889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325" y="1422242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819400"/>
            <a:ext cx="8507730" cy="2616358"/>
          </a:xfrm>
        </p:spPr>
        <p:txBody>
          <a:bodyPr>
            <a:noAutofit/>
          </a:bodyPr>
          <a:lstStyle/>
          <a:p>
            <a:pPr lvl="0"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Microservices is a modern software architecture. </a:t>
            </a:r>
          </a:p>
          <a:p>
            <a:pPr lvl="0"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divides a large application into small and independent service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service performs a specific task. </a:t>
            </a:r>
          </a:p>
          <a:p>
            <a:pPr lvl="0"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Services communicate with each other using APIs.</a:t>
            </a:r>
          </a:p>
          <a:p>
            <a:pPr marL="365760" indent="-283464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4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B047F31A-2633-AEA2-CF58-C78E2A5089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49" y="1371600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Core Technical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2353452"/>
            <a:ext cx="8763000" cy="4368024"/>
          </a:xfrm>
        </p:spPr>
        <p:txBody>
          <a:bodyPr>
            <a:noAutofit/>
          </a:bodyPr>
          <a:lstStyle/>
          <a:p>
            <a:pPr lvl="0"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Microservices: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Divides one large application into small independent services. </a:t>
            </a:r>
          </a:p>
          <a:p>
            <a:pPr lvl="0"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Services: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Each service handles one specific function. </a:t>
            </a:r>
          </a:p>
          <a:p>
            <a:pPr lvl="0"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Gateway: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Receives user requests and sends them to the correct service. </a:t>
            </a:r>
          </a:p>
          <a:p>
            <a:pPr lvl="0"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Communication: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Services communicate using APIs such as REST o</a:t>
            </a:r>
          </a:p>
          <a:p>
            <a:pPr marL="365760" indent="-283464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5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6F13DE02-BBC8-728C-D681-DB3D5A7604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2674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243" y="1752600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Existing System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6</a:t>
            </a:fld>
            <a:endParaRPr lang="en-US" altLang="zh-CN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47A8223-39EF-FB47-A105-FA55A82981FD}"/>
              </a:ext>
            </a:extLst>
          </p:cNvPr>
          <p:cNvSpPr txBox="1">
            <a:spLocks/>
          </p:cNvSpPr>
          <p:nvPr/>
        </p:nvSpPr>
        <p:spPr>
          <a:xfrm>
            <a:off x="152400" y="2667000"/>
            <a:ext cx="8507730" cy="3048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applications often use Monolithic Architecture. </a:t>
            </a:r>
          </a:p>
          <a:p>
            <a:pPr lvl="0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entire application is developed as one large system. </a:t>
            </a:r>
          </a:p>
          <a:p>
            <a:pPr lvl="0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functions are connected within a single application. </a:t>
            </a:r>
          </a:p>
          <a:p>
            <a:pPr lvl="0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small change may require updating the whole application.</a:t>
            </a:r>
          </a:p>
          <a:p>
            <a:pPr marL="365760" indent="-283464">
              <a:lnSpc>
                <a:spcPct val="150000"/>
              </a:lnSpc>
              <a:spcBef>
                <a:spcPts val="0"/>
              </a:spcBef>
              <a:buFont typeface="Wingdings 2"/>
              <a:buChar char=""/>
              <a:defRPr/>
            </a:pP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841B0539-C8EA-378C-F83B-4C3CCA5635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1777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87269-CE8A-8B51-4415-0C74C2FDC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C4D6F-8CC9-CD64-E40C-22419340F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243" y="1752600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Proposed  System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BC42CB-C169-FC3B-1F95-5553E3B4B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7</a:t>
            </a:fld>
            <a:endParaRPr lang="en-US" altLang="zh-CN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0CDBED8-4DF6-5641-5D4F-44F15CAA75A3}"/>
              </a:ext>
            </a:extLst>
          </p:cNvPr>
          <p:cNvSpPr txBox="1">
            <a:spLocks/>
          </p:cNvSpPr>
          <p:nvPr/>
        </p:nvSpPr>
        <p:spPr>
          <a:xfrm>
            <a:off x="1066800" y="2667000"/>
            <a:ext cx="7086600" cy="3048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760" indent="-283464">
              <a:lnSpc>
                <a:spcPct val="150000"/>
              </a:lnSpc>
              <a:spcBef>
                <a:spcPts val="0"/>
              </a:spcBef>
              <a:buFont typeface="Wingdings 2"/>
              <a:buChar char=""/>
              <a:defRPr/>
            </a:pP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FEAA2EC3-51B5-BC62-F4F7-A939B69E3A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E056D19-82E6-9D53-69C7-1B1D8853F6BB}"/>
              </a:ext>
            </a:extLst>
          </p:cNvPr>
          <p:cNvSpPr txBox="1"/>
          <p:nvPr/>
        </p:nvSpPr>
        <p:spPr>
          <a:xfrm>
            <a:off x="407670" y="2815768"/>
            <a:ext cx="850773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uses Microservices Architecture in a cloud environment.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is divided into small and independent services.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service performs a specific function.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API Gateway manages requests from users.</a:t>
            </a:r>
          </a:p>
        </p:txBody>
      </p:sp>
    </p:spTree>
    <p:extLst>
      <p:ext uri="{BB962C8B-B14F-4D97-AF65-F5344CB8AC3E}">
        <p14:creationId xmlns:p14="http://schemas.microsoft.com/office/powerpoint/2010/main" val="1693844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325" y="1150098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Overall System </a:t>
            </a:r>
            <a:r>
              <a:rPr lang="en-US" sz="3600" b="1" dirty="0" err="1">
                <a:latin typeface="Times New Roman" pitchFamily="18" charset="0"/>
                <a:cs typeface="Times New Roman" pitchFamily="18" charset="0"/>
              </a:rPr>
              <a:t>Architecturel</a:t>
            </a: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 Design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1F90079-4C6A-0E11-5C2E-A39BACE1DA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2400" y="1942260"/>
            <a:ext cx="8888730" cy="4779216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8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7C5E1F9D-B9A3-D9EB-905C-0AEABF9CF9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40929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0006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325" y="1600200"/>
            <a:ext cx="7499350" cy="792162"/>
          </a:xfrm>
        </p:spPr>
        <p:txBody>
          <a:bodyPr>
            <a:normAutofit fontScale="9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Proposed Methodology and Algorithm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9</a:t>
            </a:fld>
            <a:endParaRPr lang="en-US" altLang="zh-CN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47A8223-39EF-FB47-A105-FA55A82981FD}"/>
              </a:ext>
            </a:extLst>
          </p:cNvPr>
          <p:cNvSpPr txBox="1">
            <a:spLocks/>
          </p:cNvSpPr>
          <p:nvPr/>
        </p:nvSpPr>
        <p:spPr>
          <a:xfrm>
            <a:off x="533400" y="2514600"/>
            <a:ext cx="8229600" cy="3200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main functions of the application. </a:t>
            </a:r>
          </a:p>
          <a:p>
            <a:pPr lvl="0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 the application into small independent microservices. </a:t>
            </a:r>
          </a:p>
          <a:p>
            <a:pPr lvl="0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APIs for communication between services. </a:t>
            </a:r>
          </a:p>
          <a:p>
            <a:pPr lvl="0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separate databases for different services when required.</a:t>
            </a:r>
          </a:p>
          <a:p>
            <a:pPr marL="365760" indent="-283464">
              <a:lnSpc>
                <a:spcPct val="150000"/>
              </a:lnSpc>
              <a:spcBef>
                <a:spcPts val="0"/>
              </a:spcBef>
              <a:buFont typeface="Wingdings 2"/>
              <a:buChar char=""/>
              <a:defRPr/>
            </a:pP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B11E6B4E-71DE-962E-DC93-5159412ABC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0125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1524000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Conclusion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10</a:t>
            </a:fld>
            <a:endParaRPr lang="en-US" altLang="zh-CN"/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E6ECBA5D-B29C-DAFD-42C9-911BFD401B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B67B8FA-7184-8182-1D3D-539E51E6D9F4}"/>
              </a:ext>
            </a:extLst>
          </p:cNvPr>
          <p:cNvSpPr txBox="1"/>
          <p:nvPr/>
        </p:nvSpPr>
        <p:spPr>
          <a:xfrm>
            <a:off x="228600" y="2828836"/>
            <a:ext cx="8286750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Microservices divide a large application into small independent services.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service performs a specific function.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more flexible than a monolithic system.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Services can be developed, deployed, and scaled independently.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5476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325" y="1428575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References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11</a:t>
            </a:fld>
            <a:endParaRPr lang="en-US" altLang="zh-CN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47A8223-39EF-FB47-A105-FA55A82981FD}"/>
              </a:ext>
            </a:extLst>
          </p:cNvPr>
          <p:cNvSpPr txBox="1">
            <a:spLocks/>
          </p:cNvSpPr>
          <p:nvPr/>
        </p:nvSpPr>
        <p:spPr>
          <a:xfrm>
            <a:off x="228600" y="2249663"/>
            <a:ext cx="8286750" cy="41066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Newman, S. (2021).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Microservices: Designing Fine-Grained Systems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O’Reilly Media. 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Richardson, C. (2018).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Microservices Patterns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Manning Publications. 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(2025).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Microservices on AWS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Azure (2025).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Microservices Architecture Style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Azure (2025).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Microservices Architecture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Cloud (2025).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Microservices Architecture?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37C45DA2-5E82-C263-C424-8559C1B63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6799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5906</TotalTime>
  <Words>520</Words>
  <Application>Microsoft Office PowerPoint</Application>
  <PresentationFormat>On-screen Show (4:3)</PresentationFormat>
  <Paragraphs>87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宋体</vt:lpstr>
      <vt:lpstr>Arial</vt:lpstr>
      <vt:lpstr>AvantGarde</vt:lpstr>
      <vt:lpstr>Calibri</vt:lpstr>
      <vt:lpstr>Calibri Light</vt:lpstr>
      <vt:lpstr>Times New Roman</vt:lpstr>
      <vt:lpstr>Wingdings 2</vt:lpstr>
      <vt:lpstr>Office Theme</vt:lpstr>
      <vt:lpstr>PowerPoint Presentation</vt:lpstr>
      <vt:lpstr>Abstract </vt:lpstr>
      <vt:lpstr>Aim and Objective </vt:lpstr>
      <vt:lpstr>Introduction</vt:lpstr>
      <vt:lpstr>Core Technical Explanation</vt:lpstr>
      <vt:lpstr>Existing System </vt:lpstr>
      <vt:lpstr>Proposed  System </vt:lpstr>
      <vt:lpstr>Overall System Architecturel Design </vt:lpstr>
      <vt:lpstr>Proposed Methodology and Algorithm  </vt:lpstr>
      <vt:lpstr>Conclusion</vt:lpstr>
      <vt:lpstr>References</vt:lpstr>
    </vt:vector>
  </TitlesOfParts>
  <Company>Deitel &amp; Associates,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kalid</dc:creator>
  <cp:lastModifiedBy>Gowtham reddy</cp:lastModifiedBy>
  <cp:revision>427</cp:revision>
  <dcterms:created xsi:type="dcterms:W3CDTF">2000-07-06T15:05:59Z</dcterms:created>
  <dcterms:modified xsi:type="dcterms:W3CDTF">2026-10-04T16:27:43Z</dcterms:modified>
</cp:coreProperties>
</file>